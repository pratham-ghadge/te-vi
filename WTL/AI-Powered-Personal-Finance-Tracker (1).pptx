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Heebo Light" pitchFamily="2" charset="-79"/>
      <p:regular r:id="rId13"/>
    </p:embeddedFont>
    <p:embeddedFont>
      <p:font typeface="Montserrat" panose="00000500000000000000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A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9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205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sv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89" y="185523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AI-Powered Personal Finance Tracker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88" y="3666014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Smart, Automated, and Secure Financial Management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87" y="4422141"/>
            <a:ext cx="30466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Submitted by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Kunal Bagul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Swarupanand Deshmukh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Prathamesh Ghadge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055AD6-06E5-30E9-8A3C-C938EACB4F5B}"/>
              </a:ext>
            </a:extLst>
          </p:cNvPr>
          <p:cNvSpPr/>
          <p:nvPr/>
        </p:nvSpPr>
        <p:spPr>
          <a:xfrm>
            <a:off x="12371294" y="7487322"/>
            <a:ext cx="2173045" cy="725805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A8B2C2-2D70-946D-A440-DB48451A3FFB}"/>
              </a:ext>
            </a:extLst>
          </p:cNvPr>
          <p:cNvSpPr txBox="1"/>
          <p:nvPr/>
        </p:nvSpPr>
        <p:spPr>
          <a:xfrm>
            <a:off x="9458248" y="4785043"/>
            <a:ext cx="4378362" cy="1184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850"/>
              </a:lnSpc>
            </a:pP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31403</a:t>
            </a: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31411</a:t>
            </a:r>
          </a:p>
          <a:p>
            <a:pPr>
              <a:lnSpc>
                <a:spcPts val="2850"/>
              </a:lnSpc>
            </a:pPr>
            <a:r>
              <a:rPr lang="en-US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31415 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55425" y="800040"/>
            <a:ext cx="5493425" cy="686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6255425" y="1882378"/>
            <a:ext cx="7605951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</a:t>
            </a:r>
            <a:r>
              <a:rPr lang="en-US" sz="170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AI-Powered Personal Finance Tracker</a:t>
            </a: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is a web-based application designed to efficiently manage financial activities in a digital environment — replacing manual methods with a structured, secure platform.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55425" y="3426976"/>
            <a:ext cx="3696533" cy="2314694"/>
          </a:xfrm>
          <a:prstGeom prst="roundRect">
            <a:avLst>
              <a:gd name="adj" fmla="val 398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82715" y="3654266"/>
            <a:ext cx="2746653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🔐</a:t>
            </a: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Secure Access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482715" y="4132778"/>
            <a:ext cx="3241953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Structured registration, login, and session management for all users.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0164723" y="3426976"/>
            <a:ext cx="3696653" cy="2314694"/>
          </a:xfrm>
          <a:prstGeom prst="roundRect">
            <a:avLst>
              <a:gd name="adj" fmla="val 398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392013" y="3654266"/>
            <a:ext cx="3242072" cy="694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📊</a:t>
            </a: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Interactive Dashboard</a:t>
            </a:r>
            <a:endParaRPr lang="en-US" sz="2150" dirty="0"/>
          </a:p>
        </p:txBody>
      </p:sp>
      <p:sp>
        <p:nvSpPr>
          <p:cNvPr id="12" name="Text 9"/>
          <p:cNvSpPr/>
          <p:nvPr/>
        </p:nvSpPr>
        <p:spPr>
          <a:xfrm>
            <a:off x="10392013" y="4476036"/>
            <a:ext cx="3242072" cy="103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Displays total income, expenses, and current balance using visual charts and graphs.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55425" y="5954435"/>
            <a:ext cx="7605951" cy="1625322"/>
          </a:xfrm>
          <a:prstGeom prst="roundRect">
            <a:avLst>
              <a:gd name="adj" fmla="val 5678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82715" y="6181725"/>
            <a:ext cx="2746653" cy="350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💾</a:t>
            </a:r>
            <a:r>
              <a:rPr lang="en-US" sz="21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Secure Database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6482715" y="6660237"/>
            <a:ext cx="7151370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All transaction details stored in a cloud database, improving accuracy and decision-making.</a:t>
            </a:r>
            <a:endParaRPr lang="en-US" sz="17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F5702C-B6E0-BB5E-9FE3-EE3CD334141E}"/>
              </a:ext>
            </a:extLst>
          </p:cNvPr>
          <p:cNvSpPr/>
          <p:nvPr/>
        </p:nvSpPr>
        <p:spPr>
          <a:xfrm>
            <a:off x="12371294" y="7792522"/>
            <a:ext cx="2173045" cy="420605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79183" y="914876"/>
            <a:ext cx="4518779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Motivation</a:t>
            </a:r>
            <a:endParaRPr lang="en-US" sz="35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364" y="2328273"/>
            <a:ext cx="7952303" cy="450627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52EED6DD-315B-EFCA-79D6-D45EFE30D599}"/>
              </a:ext>
            </a:extLst>
          </p:cNvPr>
          <p:cNvGrpSpPr/>
          <p:nvPr/>
        </p:nvGrpSpPr>
        <p:grpSpPr>
          <a:xfrm>
            <a:off x="9442531" y="1275992"/>
            <a:ext cx="4101346" cy="5734415"/>
            <a:chOff x="9457253" y="1792002"/>
            <a:chExt cx="4101346" cy="5734415"/>
          </a:xfrm>
        </p:grpSpPr>
        <p:sp>
          <p:nvSpPr>
            <p:cNvPr id="6" name="Shape 3"/>
            <p:cNvSpPr/>
            <p:nvPr/>
          </p:nvSpPr>
          <p:spPr>
            <a:xfrm>
              <a:off x="9480113" y="1792002"/>
              <a:ext cx="4078486" cy="1872734"/>
            </a:xfrm>
            <a:prstGeom prst="roundRect">
              <a:avLst>
                <a:gd name="adj" fmla="val 5859"/>
              </a:avLst>
            </a:prstGeom>
            <a:solidFill>
              <a:srgbClr val="0D0A2C">
                <a:alpha val="95000"/>
              </a:srgbClr>
            </a:solidFill>
            <a:ln w="22860">
              <a:solidFill>
                <a:srgbClr val="4A2C8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457253" y="1857494"/>
              <a:ext cx="91440" cy="1872734"/>
            </a:xfrm>
            <a:prstGeom prst="rect">
              <a:avLst/>
            </a:prstGeom>
          </p:spPr>
        </p:pic>
        <p:sp>
          <p:nvSpPr>
            <p:cNvPr id="8" name="Text 4"/>
            <p:cNvSpPr/>
            <p:nvPr/>
          </p:nvSpPr>
          <p:spPr>
            <a:xfrm>
              <a:off x="9752290" y="2061091"/>
              <a:ext cx="3231952" cy="282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Manual Methods Are Flawed</a:t>
              </a:r>
              <a:endParaRPr lang="en-US" sz="175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9752290" y="2487454"/>
              <a:ext cx="3602712" cy="103917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14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Notebooks and spreadsheets are time-consuming, difficult to maintain, and prone to human errors — missing entries and bad calculations are common.</a:t>
              </a:r>
              <a:endParaRPr lang="en-US" sz="1400" dirty="0"/>
            </a:p>
          </p:txBody>
        </p:sp>
        <p:sp>
          <p:nvSpPr>
            <p:cNvPr id="10" name="Shape 6"/>
            <p:cNvSpPr/>
            <p:nvPr/>
          </p:nvSpPr>
          <p:spPr>
            <a:xfrm>
              <a:off x="9480113" y="3874175"/>
              <a:ext cx="4078486" cy="1612940"/>
            </a:xfrm>
            <a:prstGeom prst="roundRect">
              <a:avLst>
                <a:gd name="adj" fmla="val 6803"/>
              </a:avLst>
            </a:prstGeom>
            <a:solidFill>
              <a:srgbClr val="0D0A2C">
                <a:alpha val="95000"/>
              </a:srgbClr>
            </a:solidFill>
            <a:ln w="22860">
              <a:solidFill>
                <a:srgbClr val="4A2C8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457253" y="3874175"/>
              <a:ext cx="91440" cy="1612940"/>
            </a:xfrm>
            <a:prstGeom prst="rect">
              <a:avLst/>
            </a:prstGeom>
          </p:spPr>
        </p:pic>
        <p:sp>
          <p:nvSpPr>
            <p:cNvPr id="12" name="Text 7"/>
            <p:cNvSpPr/>
            <p:nvPr/>
          </p:nvSpPr>
          <p:spPr>
            <a:xfrm>
              <a:off x="9752290" y="4077772"/>
              <a:ext cx="3161943" cy="2824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Lack of Financial Awareness</a:t>
              </a:r>
              <a:endParaRPr lang="en-US" sz="1750" dirty="0"/>
            </a:p>
          </p:txBody>
        </p:sp>
        <p:sp>
          <p:nvSpPr>
            <p:cNvPr id="13" name="Text 8"/>
            <p:cNvSpPr/>
            <p:nvPr/>
          </p:nvSpPr>
          <p:spPr>
            <a:xfrm>
              <a:off x="9752290" y="4504134"/>
              <a:ext cx="3602712" cy="7793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14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Users struggle to analyze spending habits and identify overspending without proper visualization tools.</a:t>
              </a:r>
              <a:endParaRPr lang="en-US" sz="1400" dirty="0"/>
            </a:p>
          </p:txBody>
        </p:sp>
        <p:sp>
          <p:nvSpPr>
            <p:cNvPr id="14" name="Shape 9"/>
            <p:cNvSpPr/>
            <p:nvPr/>
          </p:nvSpPr>
          <p:spPr>
            <a:xfrm>
              <a:off x="9480113" y="5631061"/>
              <a:ext cx="4078486" cy="1895356"/>
            </a:xfrm>
            <a:prstGeom prst="roundRect">
              <a:avLst>
                <a:gd name="adj" fmla="val 5789"/>
              </a:avLst>
            </a:prstGeom>
            <a:solidFill>
              <a:srgbClr val="0D0A2C">
                <a:alpha val="95000"/>
              </a:srgbClr>
            </a:solidFill>
            <a:ln w="22860">
              <a:solidFill>
                <a:srgbClr val="4A2C85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457253" y="5631061"/>
              <a:ext cx="91440" cy="1895356"/>
            </a:xfrm>
            <a:prstGeom prst="rect">
              <a:avLst/>
            </a:prstGeom>
          </p:spPr>
        </p:pic>
        <p:sp>
          <p:nvSpPr>
            <p:cNvPr id="16" name="Text 10"/>
            <p:cNvSpPr/>
            <p:nvPr/>
          </p:nvSpPr>
          <p:spPr>
            <a:xfrm>
              <a:off x="9752290" y="5834658"/>
              <a:ext cx="3602712" cy="5648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200"/>
                </a:lnSpc>
                <a:buNone/>
              </a:pPr>
              <a:r>
                <a:rPr lang="en-US" sz="1750" dirty="0">
                  <a:solidFill>
                    <a:srgbClr val="DCD7E5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Web Advancements Enable Solutions</a:t>
              </a:r>
              <a:endParaRPr lang="en-US" sz="1750" dirty="0"/>
            </a:p>
          </p:txBody>
        </p:sp>
        <p:sp>
          <p:nvSpPr>
            <p:cNvPr id="17" name="Text 11"/>
            <p:cNvSpPr/>
            <p:nvPr/>
          </p:nvSpPr>
          <p:spPr>
            <a:xfrm>
              <a:off x="9752290" y="6543437"/>
              <a:ext cx="3602712" cy="7793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2000"/>
                </a:lnSpc>
                <a:buNone/>
              </a:pPr>
              <a:r>
                <a:rPr lang="en-US" sz="1400" dirty="0">
                  <a:solidFill>
                    <a:srgbClr val="DCD7E5"/>
                  </a:solidFill>
                  <a:latin typeface="Heebo Light" pitchFamily="34" charset="0"/>
                  <a:ea typeface="Heebo Light" pitchFamily="34" charset="-122"/>
                  <a:cs typeface="Heebo Light" pitchFamily="34" charset="-120"/>
                </a:rPr>
                <a:t>Modern web technologies make it possible to build a digital solution that provides real-time insights and is accessible from anywhere.</a:t>
              </a:r>
              <a:endParaRPr lang="en-US" sz="1400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4C50517-453C-9DFA-E7CF-18D1CF7E7546}"/>
              </a:ext>
            </a:extLst>
          </p:cNvPr>
          <p:cNvSpPr/>
          <p:nvPr/>
        </p:nvSpPr>
        <p:spPr>
          <a:xfrm>
            <a:off x="12447690" y="7428491"/>
            <a:ext cx="2173045" cy="725805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35469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Objectives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743795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13315"/>
            <a:ext cx="6407944" cy="12192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2403634"/>
            <a:ext cx="680442" cy="6804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61614" y="257377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5"/>
          <p:cNvSpPr/>
          <p:nvPr/>
        </p:nvSpPr>
        <p:spPr>
          <a:xfrm>
            <a:off x="1051084" y="3310771"/>
            <a:ext cx="381309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 Record-Keeping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51084" y="3801189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Replace manual tracking with an automated, accurate digital solution that reduces human error.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428548" y="2743795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2713315"/>
            <a:ext cx="6408063" cy="121920"/>
          </a:xfrm>
          <a:prstGeom prst="rect">
            <a:avLst/>
          </a:prstGeom>
        </p:spPr>
      </p:pic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2403634"/>
            <a:ext cx="680442" cy="68044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496371" y="2573774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7685842" y="3310771"/>
            <a:ext cx="30989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CRUD Operations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685842" y="3801189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Enable Create, Read, Update, and Delete operations for all financial transactions.</a:t>
            </a:r>
            <a:endParaRPr lang="en-US" sz="1750" dirty="0"/>
          </a:p>
        </p:txBody>
      </p:sp>
      <p:sp>
        <p:nvSpPr>
          <p:cNvPr id="17" name="Shape 11"/>
          <p:cNvSpPr/>
          <p:nvPr/>
        </p:nvSpPr>
        <p:spPr>
          <a:xfrm>
            <a:off x="793790" y="5351264"/>
            <a:ext cx="6407944" cy="2040493"/>
          </a:xfrm>
          <a:prstGeom prst="roundRect">
            <a:avLst>
              <a:gd name="adj" fmla="val 7170"/>
            </a:avLst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5320784"/>
            <a:ext cx="6407944" cy="121920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5011103"/>
            <a:ext cx="680442" cy="68044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861614" y="51812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100" dirty="0"/>
          </a:p>
        </p:txBody>
      </p:sp>
      <p:sp>
        <p:nvSpPr>
          <p:cNvPr id="21" name="Text 13"/>
          <p:cNvSpPr/>
          <p:nvPr/>
        </p:nvSpPr>
        <p:spPr>
          <a:xfrm>
            <a:off x="1051084" y="59182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Visualization</a:t>
            </a:r>
            <a:endParaRPr lang="en-US" sz="2200" dirty="0"/>
          </a:p>
        </p:txBody>
      </p:sp>
      <p:sp>
        <p:nvSpPr>
          <p:cNvPr id="22" name="Text 14"/>
          <p:cNvSpPr/>
          <p:nvPr/>
        </p:nvSpPr>
        <p:spPr>
          <a:xfrm>
            <a:off x="1051084" y="6408658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Provide dynamic dashboards and graphical charts to analyze financial patterns and spending behavior.</a:t>
            </a:r>
            <a:endParaRPr lang="en-US" sz="1750" dirty="0"/>
          </a:p>
        </p:txBody>
      </p:sp>
      <p:sp>
        <p:nvSpPr>
          <p:cNvPr id="23" name="Shape 15"/>
          <p:cNvSpPr/>
          <p:nvPr/>
        </p:nvSpPr>
        <p:spPr>
          <a:xfrm>
            <a:off x="7428548" y="5351264"/>
            <a:ext cx="6408063" cy="2040493"/>
          </a:xfrm>
          <a:prstGeom prst="roundRect">
            <a:avLst>
              <a:gd name="adj" fmla="val 7170"/>
            </a:avLst>
          </a:prstGeom>
          <a:solidFill>
            <a:srgbClr val="0D0A2C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48" y="5320784"/>
            <a:ext cx="6408063" cy="121920"/>
          </a:xfrm>
          <a:prstGeom prst="rect">
            <a:avLst/>
          </a:prstGeom>
        </p:spPr>
      </p:pic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2298" y="5011103"/>
            <a:ext cx="680442" cy="68044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0496371" y="518124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100" dirty="0"/>
          </a:p>
        </p:txBody>
      </p:sp>
      <p:sp>
        <p:nvSpPr>
          <p:cNvPr id="27" name="Text 17"/>
          <p:cNvSpPr/>
          <p:nvPr/>
        </p:nvSpPr>
        <p:spPr>
          <a:xfrm>
            <a:off x="7685842" y="5918240"/>
            <a:ext cx="31893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Authentication</a:t>
            </a:r>
            <a:endParaRPr lang="en-US" sz="2200" dirty="0"/>
          </a:p>
        </p:txBody>
      </p:sp>
      <p:sp>
        <p:nvSpPr>
          <p:cNvPr id="28" name="Text 18"/>
          <p:cNvSpPr/>
          <p:nvPr/>
        </p:nvSpPr>
        <p:spPr>
          <a:xfrm>
            <a:off x="7685842" y="6408658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Develop a robust user authentication system to protect sensitive financial data.</a:t>
            </a:r>
            <a:endParaRPr lang="en-US" sz="17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CD6C13-83B5-253A-AC1C-E12BA38D5209}"/>
              </a:ext>
            </a:extLst>
          </p:cNvPr>
          <p:cNvSpPr/>
          <p:nvPr/>
        </p:nvSpPr>
        <p:spPr>
          <a:xfrm>
            <a:off x="12371294" y="7487322"/>
            <a:ext cx="2173045" cy="725805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188006"/>
            <a:ext cx="78821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&amp; Intended Audience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4637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Scope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04490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system covers the following core areas: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3611880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Secure user management (registration, login, logout)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Transaction management for income and expenses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Dashboard analytics with real-time summaries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Chart visualizations for spending patterns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Cloud database storage for data persistence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684532" y="230703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Is This For?</a:t>
            </a:r>
            <a:endParaRPr lang="en-US" sz="2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532" y="3084552"/>
            <a:ext cx="340162" cy="3401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36637" y="3073241"/>
            <a:ext cx="55075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Students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managing pocket money and daily expenses.</a:t>
            </a:r>
            <a:endParaRPr lang="en-US" sz="175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532" y="4059852"/>
            <a:ext cx="340162" cy="3401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336637" y="3990520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Working professionals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monitoring salary and monthly spending.</a:t>
            </a:r>
            <a:endParaRPr lang="en-US" sz="17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532" y="5324326"/>
            <a:ext cx="340162" cy="34016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36637" y="5216545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Small business owners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needing simple financial records.</a:t>
            </a:r>
            <a:endParaRPr lang="en-US" sz="17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4532" y="6418719"/>
            <a:ext cx="340162" cy="34016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336636" y="6351933"/>
            <a:ext cx="55075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Individuals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seeking to improve financial discipline and saving habits.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2A9612-4D21-70D8-6D7F-EE05B41FB078}"/>
              </a:ext>
            </a:extLst>
          </p:cNvPr>
          <p:cNvSpPr/>
          <p:nvPr/>
        </p:nvSpPr>
        <p:spPr>
          <a:xfrm>
            <a:off x="12371294" y="7487322"/>
            <a:ext cx="2173045" cy="725805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555313"/>
            <a:ext cx="72595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Functional Requirements</a:t>
            </a:r>
            <a:endParaRPr lang="en-US" sz="44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0" y="2604254"/>
            <a:ext cx="566976" cy="56697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34547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Management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3945136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Secure Registration, Login, and Logout functionality with session handling.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604254"/>
            <a:ext cx="566976" cy="5669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56884" y="3454717"/>
            <a:ext cx="29017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Transaction Controls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456884" y="3945136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Add, View, Update, and Delete income or expense records — including amount, category, and date.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5124569"/>
            <a:ext cx="566976" cy="56697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93790" y="59750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Display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793790" y="6465451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Real-time calculation of total income, total expenses, and net balance displayed prominently.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5124569"/>
            <a:ext cx="566976" cy="56697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56884" y="59750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 Analytics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7456884" y="6465451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Chart visualizations displaying graphical representations of spending patterns by category.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4EEAC2-F1B7-7C2C-0E29-FE1F846B052F}"/>
              </a:ext>
            </a:extLst>
          </p:cNvPr>
          <p:cNvSpPr/>
          <p:nvPr/>
        </p:nvSpPr>
        <p:spPr>
          <a:xfrm>
            <a:off x="12371294" y="7487322"/>
            <a:ext cx="2173045" cy="725805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46509" y="504349"/>
            <a:ext cx="975836" cy="225266"/>
          </a:xfrm>
          <a:prstGeom prst="roundRect">
            <a:avLst>
              <a:gd name="adj" fmla="val 20617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629376" y="545783"/>
            <a:ext cx="810101" cy="142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2546509" y="763191"/>
            <a:ext cx="5285423" cy="431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Non-Functional Requirements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546509" y="1416010"/>
            <a:ext cx="3118842" cy="1446014"/>
          </a:xfrm>
          <a:prstGeom prst="roundRect">
            <a:avLst>
              <a:gd name="adj" fmla="val 401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2241" y="1561743"/>
            <a:ext cx="414576" cy="414576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6184" y="1675686"/>
            <a:ext cx="186571" cy="1865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692241" y="2060496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2692241" y="2360533"/>
            <a:ext cx="2827377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Fast page loads and instant transaction processing for a seamless user experience.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2546509" y="2946202"/>
            <a:ext cx="3118842" cy="1446014"/>
          </a:xfrm>
          <a:prstGeom prst="roundRect">
            <a:avLst>
              <a:gd name="adj" fmla="val 401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241" y="3091934"/>
            <a:ext cx="414576" cy="414576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06184" y="3205877"/>
            <a:ext cx="186571" cy="18657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692241" y="3590687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2692241" y="3890724"/>
            <a:ext cx="2827377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Secure login mechanisms and encrypted user data protection throughout the system.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2546509" y="4476393"/>
            <a:ext cx="3118842" cy="1446014"/>
          </a:xfrm>
          <a:prstGeom prst="roundRect">
            <a:avLst>
              <a:gd name="adj" fmla="val 401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92241" y="4622125"/>
            <a:ext cx="414576" cy="414576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06184" y="4736068"/>
            <a:ext cx="186571" cy="186571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2692241" y="5120878"/>
            <a:ext cx="1727716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Usability</a:t>
            </a:r>
            <a:endParaRPr lang="en-US" sz="1350" dirty="0"/>
          </a:p>
        </p:txBody>
      </p:sp>
      <p:sp>
        <p:nvSpPr>
          <p:cNvPr id="19" name="Text 11"/>
          <p:cNvSpPr/>
          <p:nvPr/>
        </p:nvSpPr>
        <p:spPr>
          <a:xfrm>
            <a:off x="2692241" y="5420916"/>
            <a:ext cx="2827377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Simple, intuitive, and highly responsive user interface across all device sizes.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2546509" y="6006584"/>
            <a:ext cx="3118842" cy="1623893"/>
          </a:xfrm>
          <a:prstGeom prst="roundRect">
            <a:avLst>
              <a:gd name="adj" fmla="val 3575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92241" y="6152317"/>
            <a:ext cx="414576" cy="414576"/>
          </a:xfrm>
          <a:prstGeom prst="rect">
            <a:avLst/>
          </a:prstGeom>
        </p:spPr>
      </p:pic>
      <p:pic>
        <p:nvPicPr>
          <p:cNvPr id="22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806184" y="6266259"/>
            <a:ext cx="186571" cy="186571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2692241" y="6651069"/>
            <a:ext cx="1907858" cy="215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Reliability &amp; Scalability</a:t>
            </a:r>
            <a:endParaRPr lang="en-US" sz="1350" dirty="0"/>
          </a:p>
        </p:txBody>
      </p:sp>
      <p:sp>
        <p:nvSpPr>
          <p:cNvPr id="24" name="Text 14"/>
          <p:cNvSpPr/>
          <p:nvPr/>
        </p:nvSpPr>
        <p:spPr>
          <a:xfrm>
            <a:off x="2692241" y="6951107"/>
            <a:ext cx="2827377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Accurate data storage without loss, capable of handling an increasing number of users and transactions.</a:t>
            </a:r>
            <a:endParaRPr lang="en-US" sz="105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09403" y="2669203"/>
            <a:ext cx="6081236" cy="344602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06FE2F1-B0D5-6AD9-CF88-54AC0A3944FF}"/>
              </a:ext>
            </a:extLst>
          </p:cNvPr>
          <p:cNvSpPr/>
          <p:nvPr/>
        </p:nvSpPr>
        <p:spPr>
          <a:xfrm>
            <a:off x="12371294" y="7487322"/>
            <a:ext cx="2173045" cy="725805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186696"/>
            <a:ext cx="94866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 &amp; Tech Stack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4624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93790" y="3071932"/>
            <a:ext cx="3008948" cy="1821537"/>
          </a:xfrm>
          <a:prstGeom prst="roundRect">
            <a:avLst>
              <a:gd name="adj" fmla="val 8032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10" y="3071932"/>
            <a:ext cx="121920" cy="182153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2524" y="3329226"/>
            <a:ext cx="24029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142524" y="3910370"/>
            <a:ext cx="24029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HTML, CSS, JavaScript, React.js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029551" y="3071932"/>
            <a:ext cx="3008948" cy="1821537"/>
          </a:xfrm>
          <a:prstGeom prst="roundRect">
            <a:avLst>
              <a:gd name="adj" fmla="val 8032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071" y="3071932"/>
            <a:ext cx="121920" cy="182153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78285" y="3329226"/>
            <a:ext cx="24029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378285" y="3910370"/>
            <a:ext cx="24029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Node.js, Express.js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793790" y="5120283"/>
            <a:ext cx="3008948" cy="2184440"/>
          </a:xfrm>
          <a:prstGeom prst="roundRect">
            <a:avLst>
              <a:gd name="adj" fmla="val 6698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10" y="5120283"/>
            <a:ext cx="121920" cy="21844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2524" y="5377577"/>
            <a:ext cx="24029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1142524" y="5958721"/>
            <a:ext cx="24029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Neon Database — secure, scalable cloud-based PostgreSQL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4029551" y="5120283"/>
            <a:ext cx="3008948" cy="2184440"/>
          </a:xfrm>
          <a:prstGeom prst="roundRect">
            <a:avLst>
              <a:gd name="adj" fmla="val 6698"/>
            </a:avLst>
          </a:prstGeom>
          <a:solidFill>
            <a:srgbClr val="0D0A2C">
              <a:alpha val="95000"/>
            </a:srgbClr>
          </a:solidFill>
          <a:ln w="3048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9071" y="5120283"/>
            <a:ext cx="121920" cy="21844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78285" y="5377577"/>
            <a:ext cx="240291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Tools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4378285" y="5958721"/>
            <a:ext cx="24029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Git, GitHub, Postman for API testing</a:t>
            </a:r>
            <a:endParaRPr lang="en-US" sz="1750" dirty="0"/>
          </a:p>
        </p:txBody>
      </p:sp>
      <p:sp>
        <p:nvSpPr>
          <p:cNvPr id="24" name="Text 17"/>
          <p:cNvSpPr/>
          <p:nvPr/>
        </p:nvSpPr>
        <p:spPr>
          <a:xfrm>
            <a:off x="8407479" y="2284088"/>
            <a:ext cx="46272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📐</a:t>
            </a:r>
            <a:r>
              <a:rPr lang="en-US" sz="2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System Architecture Diagram</a:t>
            </a:r>
            <a:endParaRPr lang="en-US" sz="2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3AB0A4E-2340-C291-ADE2-3F598594DD72}"/>
              </a:ext>
            </a:extLst>
          </p:cNvPr>
          <p:cNvSpPr/>
          <p:nvPr/>
        </p:nvSpPr>
        <p:spPr>
          <a:xfrm>
            <a:off x="12371294" y="7487322"/>
            <a:ext cx="2173045" cy="725805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3E951D2-EFD7-2713-A81D-97392998E5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7611" y="2921159"/>
            <a:ext cx="5420092" cy="49641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1667351"/>
            <a:ext cx="80454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Implementation Details &amp; UI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7162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The system features a modern UI with distinct modules for tracking and analytics.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56115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Screens Built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142303"/>
            <a:ext cx="6244709" cy="2415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Secure Sign Up / Sign In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portals with validation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Main Dashboard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Recent transactions, tax estimates, and suggested tax regimes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Cashflow Analytics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Monthly income vs. expense graphs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Category Budgets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— Food, Education, and Savings tracking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599521" y="3589496"/>
            <a:ext cx="6244709" cy="3234452"/>
          </a:xfrm>
          <a:prstGeom prst="roundRect">
            <a:avLst>
              <a:gd name="adj" fmla="val 2945"/>
            </a:avLst>
          </a:prstGeom>
          <a:solidFill>
            <a:srgbClr val="1E0C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335" y="3899178"/>
            <a:ext cx="354330" cy="283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407479" y="3872984"/>
            <a:ext cx="32487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📸</a:t>
            </a:r>
            <a:r>
              <a:rPr lang="en-US" sz="2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Project Screenshots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407479" y="4454128"/>
            <a:ext cx="52099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[STUDENT INSTRUCTION: PASTE YOUR SCREENSHOTS HERE ONCE GENERATED]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407479" y="5384006"/>
            <a:ext cx="5209937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Sign-Up / Sign-In Screen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Main Dashboard View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Analytics &amp; Charts Screen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E184F9-BC6B-FA5D-668E-8A8FB3B92683}"/>
              </a:ext>
            </a:extLst>
          </p:cNvPr>
          <p:cNvSpPr/>
          <p:nvPr/>
        </p:nvSpPr>
        <p:spPr>
          <a:xfrm>
            <a:off x="12371294" y="7487322"/>
            <a:ext cx="2173045" cy="725805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F02495-15FE-13C3-5ACC-E4E5158F60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7473" y="3281081"/>
            <a:ext cx="7468804" cy="46042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3219"/>
            <a:ext cx="76173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Conclusion &amp; Future Scope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4272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✅</a:t>
            </a: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Conclusion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3721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Successfully developed an efficient solution that replaces manual methods, reduces calculation errors, and securely stores data. The interactive dashboards significantly improve financial awareness for all users.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503182"/>
            <a:ext cx="36290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🚀</a:t>
            </a: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Future Enhancements</a:t>
            </a:r>
            <a:endParaRPr lang="en-US" sz="2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5208984"/>
            <a:ext cx="340162" cy="3401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0906" y="519767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Integration of </a:t>
            </a: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advanced budgeting tools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with goal-based tracking.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0903" y="5208984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3008" y="519767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Automated bank transaction syncing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for real-time data updates.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63006" y="5208984"/>
            <a:ext cx="340162" cy="34016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15111" y="519767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Advanced AI-driven financial analytics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and spending predictions.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954C6-62D1-85E6-0A9A-01E58A07C047}"/>
              </a:ext>
            </a:extLst>
          </p:cNvPr>
          <p:cNvSpPr/>
          <p:nvPr/>
        </p:nvSpPr>
        <p:spPr>
          <a:xfrm>
            <a:off x="12371294" y="7487322"/>
            <a:ext cx="2173045" cy="725805"/>
          </a:xfrm>
          <a:prstGeom prst="rect">
            <a:avLst/>
          </a:prstGeom>
          <a:solidFill>
            <a:srgbClr val="0D0A2C"/>
          </a:solidFill>
          <a:ln>
            <a:solidFill>
              <a:srgbClr val="0D0A2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675</Words>
  <Application>Microsoft Office PowerPoint</Application>
  <PresentationFormat>Custom</PresentationFormat>
  <Paragraphs>109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Montserrat</vt:lpstr>
      <vt:lpstr>Arial</vt:lpstr>
      <vt:lpstr>Heebo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KUNAL BAGUL</cp:lastModifiedBy>
  <cp:revision>2</cp:revision>
  <dcterms:created xsi:type="dcterms:W3CDTF">2026-04-20T13:20:09Z</dcterms:created>
  <dcterms:modified xsi:type="dcterms:W3CDTF">2026-04-20T13:37:25Z</dcterms:modified>
</cp:coreProperties>
</file>